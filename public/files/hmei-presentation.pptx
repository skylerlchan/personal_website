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61" r:id="rId5"/>
    <p:sldId id="262" r:id="rId6"/>
    <p:sldId id="266" r:id="rId7"/>
    <p:sldId id="263" r:id="rId8"/>
    <p:sldId id="264" r:id="rId9"/>
    <p:sldId id="265" r:id="rId10"/>
    <p:sldId id="268" r:id="rId11"/>
    <p:sldId id="267" r:id="rId12"/>
    <p:sldId id="269" r:id="rId13"/>
    <p:sldId id="271" r:id="rId14"/>
    <p:sldId id="258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3526" autoAdjust="0"/>
  </p:normalViewPr>
  <p:slideViewPr>
    <p:cSldViewPr snapToGrid="0">
      <p:cViewPr varScale="1">
        <p:scale>
          <a:sx n="57" d="100"/>
          <a:sy n="57" d="100"/>
        </p:scale>
        <p:origin x="16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C26AE-613B-4F9B-A4BC-1234A703377A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848CC-C58A-48B9-8045-75579D0E8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4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848CC-C58A-48B9-8045-75579D0E80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cloud change (include with previous slide) (more cooling effects)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848CC-C58A-48B9-8045-75579D0E80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16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show the cooling effect, lower </a:t>
            </a:r>
          </a:p>
          <a:p>
            <a:r>
              <a:rPr lang="en-US" dirty="0"/>
              <a:t>0.5 </a:t>
            </a:r>
            <a:r>
              <a:rPr lang="en-US" dirty="0" err="1"/>
              <a:t>terragram</a:t>
            </a:r>
            <a:endParaRPr lang="en-US" dirty="0"/>
          </a:p>
          <a:p>
            <a:r>
              <a:rPr lang="en-US" dirty="0"/>
              <a:t>5.0 is 10x the amount of </a:t>
            </a:r>
            <a:r>
              <a:rPr lang="en-US" dirty="0" err="1"/>
              <a:t>aersols</a:t>
            </a:r>
            <a:r>
              <a:rPr lang="en-US" dirty="0"/>
              <a:t> </a:t>
            </a:r>
          </a:p>
          <a:p>
            <a:r>
              <a:rPr lang="en-US" dirty="0"/>
              <a:t>(1/10 of </a:t>
            </a:r>
            <a:r>
              <a:rPr lang="en-US" dirty="0" err="1"/>
              <a:t>bc</a:t>
            </a:r>
            <a:r>
              <a:rPr lang="en-US" dirty="0"/>
              <a:t> has more cooling effect than the sulfate)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848CC-C58A-48B9-8045-75579D0E80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99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LOOK BETTER (like </a:t>
            </a:r>
            <a:r>
              <a:rPr lang="en-US" dirty="0" err="1"/>
              <a:t>hoazhe’s</a:t>
            </a:r>
            <a:r>
              <a:rPr lang="en-US" dirty="0"/>
              <a:t> one)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Motivation of the project </a:t>
            </a:r>
          </a:p>
          <a:p>
            <a:endParaRPr lang="en-US" dirty="0"/>
          </a:p>
          <a:p>
            <a:r>
              <a:rPr lang="en-US" dirty="0"/>
              <a:t>so when we do the sensitivity test (altitude test) , when we put </a:t>
            </a:r>
            <a:r>
              <a:rPr lang="en-US" dirty="0" err="1"/>
              <a:t>bc</a:t>
            </a:r>
            <a:r>
              <a:rPr lang="en-US" dirty="0"/>
              <a:t> in the lower, more high cloud decrease, hence we want to understand why? </a:t>
            </a:r>
          </a:p>
          <a:p>
            <a:endParaRPr lang="en-US" dirty="0"/>
          </a:p>
          <a:p>
            <a:r>
              <a:rPr lang="en-US" dirty="0"/>
              <a:t>We try to find the explanation of the high cloud decrease through a different pathway, although the final conclusion is the circulation slow down , but we also found it from the stability iris (the circulation changes comes from the upper troposphere stability iris)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848CC-C58A-48B9-8045-75579D0E80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47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this </a:t>
            </a:r>
          </a:p>
          <a:p>
            <a:r>
              <a:rPr lang="en-US" dirty="0"/>
              <a:t>The climatology graph </a:t>
            </a:r>
          </a:p>
          <a:p>
            <a:r>
              <a:rPr lang="en-US" dirty="0"/>
              <a:t>Weakening of the circulation (</a:t>
            </a:r>
          </a:p>
          <a:p>
            <a:r>
              <a:rPr lang="en-US" dirty="0"/>
              <a:t>Take out bottom row, highlight first row </a:t>
            </a:r>
          </a:p>
          <a:p>
            <a:endParaRPr lang="en-US" dirty="0"/>
          </a:p>
          <a:p>
            <a:r>
              <a:rPr lang="en-US" dirty="0"/>
              <a:t>Readjust figures with </a:t>
            </a:r>
            <a:r>
              <a:rPr lang="en-US" dirty="0" err="1"/>
              <a:t>collor</a:t>
            </a:r>
            <a:r>
              <a:rPr lang="en-US" dirty="0"/>
              <a:t> bar on bottom, to make figure larger </a:t>
            </a:r>
          </a:p>
          <a:p>
            <a:r>
              <a:rPr lang="en-US" dirty="0"/>
              <a:t>Lower  then higher </a:t>
            </a:r>
          </a:p>
          <a:p>
            <a:endParaRPr lang="en-US" dirty="0"/>
          </a:p>
          <a:p>
            <a:r>
              <a:rPr lang="en-US" dirty="0"/>
              <a:t>This also helps to understand </a:t>
            </a:r>
            <a:r>
              <a:rPr lang="en-US" dirty="0" err="1"/>
              <a:t>presecitpation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Shows them how </a:t>
            </a:r>
            <a:r>
              <a:rPr lang="en-US" dirty="0" err="1"/>
              <a:t>ti</a:t>
            </a:r>
            <a:r>
              <a:rPr lang="en-US" dirty="0"/>
              <a:t> contributes to precipitation decrease ****</a:t>
            </a:r>
          </a:p>
          <a:p>
            <a:endParaRPr lang="en-US" dirty="0"/>
          </a:p>
          <a:p>
            <a:r>
              <a:rPr lang="en-US" dirty="0"/>
              <a:t>Surface temperature doesn’t change (fix the </a:t>
            </a:r>
            <a:r>
              <a:rPr lang="en-US" dirty="0" err="1"/>
              <a:t>oean</a:t>
            </a:r>
            <a:r>
              <a:rPr lang="en-US" dirty="0"/>
              <a:t> </a:t>
            </a:r>
            <a:r>
              <a:rPr lang="en-US" dirty="0" err="1"/>
              <a:t>temrpature</a:t>
            </a:r>
            <a:r>
              <a:rPr lang="en-US" dirty="0"/>
              <a:t>) </a:t>
            </a:r>
          </a:p>
          <a:p>
            <a:r>
              <a:rPr lang="en-US" dirty="0" err="1"/>
              <a:t>Aersols</a:t>
            </a:r>
            <a:r>
              <a:rPr lang="en-US" dirty="0"/>
              <a:t> make the </a:t>
            </a:r>
            <a:r>
              <a:rPr lang="en-US" dirty="0" err="1"/>
              <a:t>temrpeature</a:t>
            </a:r>
            <a:r>
              <a:rPr lang="en-US" dirty="0"/>
              <a:t> change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848CC-C58A-48B9-8045-75579D0E80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25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light the BC part, </a:t>
            </a:r>
          </a:p>
          <a:p>
            <a:r>
              <a:rPr lang="en-US" dirty="0"/>
              <a:t>From left to the right, is higher to lower (make it easier to understand)</a:t>
            </a:r>
          </a:p>
          <a:p>
            <a:r>
              <a:rPr lang="en-US" dirty="0"/>
              <a:t>What each bar means </a:t>
            </a:r>
          </a:p>
          <a:p>
            <a:r>
              <a:rPr lang="en-US" dirty="0"/>
              <a:t>P = </a:t>
            </a:r>
            <a:r>
              <a:rPr lang="en-US" dirty="0" err="1"/>
              <a:t>mq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Consdiering</a:t>
            </a:r>
            <a:r>
              <a:rPr lang="en-US" dirty="0"/>
              <a:t> the previous stream function, we </a:t>
            </a:r>
            <a:r>
              <a:rPr lang="en-US" dirty="0" err="1"/>
              <a:t>canconsdier</a:t>
            </a:r>
            <a:r>
              <a:rPr lang="en-US" dirty="0"/>
              <a:t> </a:t>
            </a:r>
          </a:p>
          <a:p>
            <a:r>
              <a:rPr lang="en-US" dirty="0"/>
              <a:t>Circulation slowdown why the max flux is less</a:t>
            </a:r>
          </a:p>
          <a:p>
            <a:r>
              <a:rPr lang="en-US" dirty="0" err="1"/>
              <a:t>Infrenerence</a:t>
            </a:r>
            <a:r>
              <a:rPr lang="en-US" dirty="0"/>
              <a:t> the </a:t>
            </a:r>
            <a:r>
              <a:rPr lang="en-US" dirty="0" err="1"/>
              <a:t>preciptaiotn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Take out sulphate </a:t>
            </a:r>
          </a:p>
          <a:p>
            <a:r>
              <a:rPr lang="en-US" dirty="0"/>
              <a:t>Stream function really explains this </a:t>
            </a:r>
            <a:r>
              <a:rPr lang="en-US" dirty="0" err="1"/>
              <a:t>preciptaiton</a:t>
            </a:r>
            <a:r>
              <a:rPr lang="en-US" dirty="0"/>
              <a:t> decrease </a:t>
            </a:r>
          </a:p>
          <a:p>
            <a:endParaRPr lang="en-US" dirty="0"/>
          </a:p>
          <a:p>
            <a:r>
              <a:rPr lang="en-US" dirty="0" err="1"/>
              <a:t>Precitpation</a:t>
            </a:r>
            <a:r>
              <a:rPr lang="en-US" dirty="0"/>
              <a:t> change from the energy budget constraint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848CC-C58A-48B9-8045-75579D0E80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58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atm from the precipitation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848CC-C58A-48B9-8045-75579D0E80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92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848CC-C58A-48B9-8045-75579D0E802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61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Atmospheric radiative anomalies by model: decomposition into shortwave and longwave components</a:t>
            </a:r>
            <a:endParaRPr lang="en-US" dirty="0"/>
          </a:p>
          <a:p>
            <a:r>
              <a:rPr lang="en-US" dirty="0"/>
              <a:t>This figure shows atmospheric radiative flux anomalies (</a:t>
            </a:r>
            <a:r>
              <a:rPr lang="en-US" dirty="0" err="1"/>
              <a:t>ΔR_atm</a:t>
            </a:r>
            <a:r>
              <a:rPr lang="en-US" dirty="0"/>
              <a:t>) relative to AMIP across different forcing experiments, decomposed into shortwave (SW) and longwave (LW) contributions. Blue bars indicate </a:t>
            </a:r>
            <a:r>
              <a:rPr lang="en-US" dirty="0" err="1"/>
              <a:t>ΔR_atm_SW</a:t>
            </a:r>
            <a:r>
              <a:rPr lang="en-US" dirty="0"/>
              <a:t> (primarily reflecting changes in solar absorption and scattering), while orange bars show </a:t>
            </a:r>
            <a:r>
              <a:rPr lang="en-US" dirty="0" err="1"/>
              <a:t>ΔR_atm_LW</a:t>
            </a:r>
            <a:r>
              <a:rPr lang="en-US" dirty="0"/>
              <a:t> (mainly tied to thermal emission changes). The total anomaly (black line with points) is the net atmospheric radiative cooling or heating.</a:t>
            </a:r>
          </a:p>
          <a:p>
            <a:r>
              <a:rPr lang="en-US" dirty="0"/>
              <a:t>The </a:t>
            </a:r>
            <a:r>
              <a:rPr lang="en-US" dirty="0" err="1"/>
              <a:t>stratBC</a:t>
            </a:r>
            <a:r>
              <a:rPr lang="en-US" dirty="0"/>
              <a:t> cases exhibit large positive SW anomalies combined with strong negative LW anomalies, resulting in substantial net atmospheric radiative cooling. In contrast, SO₄ cases show smaller anomalies in both SW and LW, leading to weaker total </a:t>
            </a:r>
            <a:r>
              <a:rPr lang="en-US" dirty="0" err="1"/>
              <a:t>ΔR_atm</a:t>
            </a:r>
            <a:r>
              <a:rPr lang="en-US" dirty="0"/>
              <a:t>. The 2xCO₂ experiment exhibits net atmospheric heating, driven by a strong LW trapping effect exceeding SW changes.</a:t>
            </a:r>
          </a:p>
          <a:p>
            <a:r>
              <a:rPr lang="en-US" dirty="0"/>
              <a:t>These patterns highlight forcing-specific atmospheric radiative responses, which strongly govern column energy balance and thus precipitation adjustments.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38BBE-C844-4659-9568-779FDA99BE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29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to specific regression lines (BC for SO4)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F470A-B234-4947-B214-78D51259C3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33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it two lines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F470A-B234-4947-B214-78D51259C3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01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EF0A-2A23-5F93-4248-C3F279343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62410-5E58-3A24-A730-84DBBA709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7B14D-CC94-C562-10C5-1FCFF28C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CA14E-A49D-8BCA-B23A-B8BC7A03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0FA96-A0C8-6EFC-7D83-D1861D26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7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BAF2-62C6-89A9-5F22-E7B55E4D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2E5A-E03E-7799-F7B6-2EF18D384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5B860-C405-5ABA-CDE5-323F8783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5BB86-2C59-2CBC-8CB4-05AB1C4F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50909-B7AC-B9E5-3D6F-060298BF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7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D81F-4091-92BB-515B-1FE97B64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63668-E4E9-70FA-42BE-FAA7344B4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F4DAC-2895-9333-0A3F-17E70A27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249DA-DE0B-15DE-0838-68FB4450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96CB6-8B7D-E396-175D-BB3321C6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87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58FE-00AC-A515-217F-9B17820FB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6A27-32BC-60AA-06FA-D1BC7DF29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03F06-28B5-1B40-270F-C22B5FC4B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0F0AD-0FBB-AC52-6EF6-0548F6DF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B1197-3392-F94C-46DD-539383E0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590D2-B209-339A-0982-EFEA432C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8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3F88-0C28-2559-AA2B-8CB8CA36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EC447-52B1-92AD-9D71-85EB6AC6C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FE77F-D137-3E7E-C1B1-6EAECCF8A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904225-4592-D830-A115-EA4356229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CC460-E0BA-6E1C-434B-8E18EE5E6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2E80EF-7220-2AD8-8242-45B169C7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EA24B-C196-E832-F697-D616A083D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4A5FD-A8AB-AF9A-3B88-54BB2E28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7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D458-DFAF-7C60-B7CE-0E0D07503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11555-66E6-E175-642D-27A5F239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732C9-F422-8906-4B29-124D50FE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19661-CBCB-7CD5-56BD-E3607ECAB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2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05652-3109-3367-6A25-777D2DC4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C2E5D-947B-E3DA-BEA1-9BB77BA5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ADF79-49C6-FA87-F5FD-BEE70721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5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8969-0910-4AA9-A45B-D52A382D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979A-367B-E1B0-1ABF-A4B0DFBEC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A7E11-934F-A5C9-6461-520659414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E1CAC-7E84-B7E1-734F-DC8CE821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C2D0B-213D-366F-43BC-7C2EF7C4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61945-4234-3EC5-DF2A-09680475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7700-91D4-FA92-F125-D06DF80B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1F2C80-3867-99CC-A269-62B7884DF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87A21-D7D7-ADB8-49D3-7A9BE1FEE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75A2E-475F-F6FF-3A10-C651A0CFF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916D1-10C8-4FEB-43E3-4CF975CE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72B2E-281B-B3DB-3A89-3488E447E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8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7A08-3CD6-1BC0-9459-B250B77C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0E34A-DCEC-5180-B48E-C82C7B607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0A6D8-CC18-5AF9-4F9F-1A0CB91F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60BB3-752A-B667-3EAD-CDBA2565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DE138-169C-48BC-CD83-562CAB74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5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5879F4-9B64-4DE0-CD93-B537BF382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AE036-E6E1-358F-05A7-8872CEA76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BA232-ABC2-A42A-A6F5-68F4C384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457D6-16EA-0FA9-5ABC-7DDD2D9F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15192-E2FA-D600-83B5-55391429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6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9E0AC9-8D8D-B8FB-26B2-A1BDA803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35EB0-2108-C5FC-F577-E04F8FC4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14A58-734C-BA66-CCE4-D4849F796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FCA34-84F5-4D4B-939F-19DDECDE1515}" type="datetimeFigureOut">
              <a:rPr lang="en-US" smtClean="0"/>
              <a:t>08/27/2025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7C8EC-CE0F-D1ED-27C4-7A051F0A1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615F4-EDA4-4204-D9A5-2E9D45A49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8F6C1-3947-4EF6-804B-B0336FC1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9AAB-7044-1BDD-066E-032573219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HMEI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CE329-5EA5-8C07-F1DF-CF8CC240E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40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669A-B4B1-7BE7-78A9-78BB6392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72C53-5951-474E-216D-C608BD33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 solar radiation management (not using reflective, but using absorbative </a:t>
            </a:r>
            <a:r>
              <a:rPr lang="en-US" dirty="0" err="1"/>
              <a:t>aersols</a:t>
            </a:r>
            <a:r>
              <a:rPr lang="en-US" dirty="0"/>
              <a:t>)</a:t>
            </a:r>
          </a:p>
          <a:p>
            <a:r>
              <a:rPr lang="en-US" dirty="0"/>
              <a:t>Shows much more effective traditional geoengineering </a:t>
            </a:r>
          </a:p>
          <a:p>
            <a:r>
              <a:rPr lang="en-US" dirty="0"/>
              <a:t>High cloud (black carbon on lower atmosphere, see high cloud decrease)</a:t>
            </a:r>
          </a:p>
          <a:p>
            <a:pPr lvl="1"/>
            <a:r>
              <a:rPr lang="en-US" dirty="0"/>
              <a:t>Higher in the stratosphere, more cooling effective than reflective </a:t>
            </a:r>
            <a:r>
              <a:rPr lang="en-US" dirty="0" err="1"/>
              <a:t>aersols</a:t>
            </a:r>
            <a:r>
              <a:rPr lang="en-US" dirty="0"/>
              <a:t> effect (10x)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82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7B7B-9BC6-916B-8775-6A9C8BC7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2A0053-3CEF-3FB9-A2B7-AB9BA4B70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27636"/>
            <a:ext cx="10515600" cy="414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5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CE2373-C2E4-C209-1AF0-6F798FD77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5431" y="676292"/>
            <a:ext cx="9974757" cy="550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2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FAB8-69ED-1544-DA54-D7C72C0F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BB4519-6945-AC46-0F94-E2EB96DA4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84348" y="5078354"/>
            <a:ext cx="428917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1B3679-8013-3AF4-6DCB-EDF8790F9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861311"/>
            <a:ext cx="6431280" cy="49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D5FEDF-840F-031D-8D6A-A37412043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1988" y="637698"/>
            <a:ext cx="6108024" cy="558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5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9838B01-F525-64CE-01B3-D8117819B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7663"/>
            <a:ext cx="12192000" cy="437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100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2554-2C47-4D23-B29C-8FE3FC0D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= </a:t>
            </a:r>
            <a:r>
              <a:rPr lang="en-US" dirty="0" err="1"/>
              <a:t>mq</a:t>
            </a:r>
            <a:r>
              <a:rPr lang="en-US" dirty="0"/>
              <a:t> *(latex)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FC10F9C-1B32-0EAF-AED0-363E19FE1C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59" y="1825625"/>
            <a:ext cx="1024408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64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0E44-A8CC-6F27-5528-8BE7925F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9B67A45-1EED-DBA0-8F8A-965FB5EA78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474" y="1825625"/>
            <a:ext cx="876905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94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BBCE-E072-E526-456C-235A387D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4841-2CD1-753F-B10E-C7CFB395A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Vecchi group </a:t>
            </a:r>
          </a:p>
          <a:p>
            <a:r>
              <a:rPr lang="en-US" dirty="0" err="1"/>
              <a:t>Gabroes</a:t>
            </a:r>
            <a:r>
              <a:rPr lang="en-US" dirty="0"/>
              <a:t> </a:t>
            </a:r>
          </a:p>
          <a:p>
            <a:r>
              <a:rPr lang="en-US" dirty="0"/>
              <a:t>Adam Sokol </a:t>
            </a:r>
          </a:p>
          <a:p>
            <a:r>
              <a:rPr lang="en-US" dirty="0"/>
              <a:t>Haozhe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66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CAA-7EA2-FFE3-B67C-A1E107A5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Supplementals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04D0BE-417D-E7E0-8D62-83C38B625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216" y="2072640"/>
            <a:ext cx="8958503" cy="380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601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F817-76D4-1E79-E80D-6F953A4E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AB66460-4C6C-A168-B3A2-B198F0E6F0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59" y="1825625"/>
            <a:ext cx="1024408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84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4943864E-3FBF-7322-6049-37F8FFD40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619125"/>
            <a:ext cx="11325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394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0C800B4-E4D9-3CB1-CE86-03820779C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82" y="460593"/>
            <a:ext cx="7994635" cy="593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81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9525591-EB56-4CB1-FA28-C9B3751BD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681037"/>
            <a:ext cx="7524750" cy="549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AC1B04A-EBD5-3746-998D-083101C29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348" y="681036"/>
            <a:ext cx="7524750" cy="549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820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7980D8A-633F-6EFB-768F-DC21545B5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9" y="317782"/>
            <a:ext cx="7391400" cy="549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82608060-D6EE-F119-2A2E-D35C5698B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9" y="317782"/>
            <a:ext cx="7391400" cy="549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103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0F667CB-A5E4-8357-8E26-C40AA59BE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7" y="681037"/>
            <a:ext cx="8201025" cy="549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71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544</Words>
  <Application>Microsoft Office PowerPoint</Application>
  <PresentationFormat>Widescreen</PresentationFormat>
  <Paragraphs>73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HMEI </vt:lpstr>
      <vt:lpstr>Background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 = mq *(latex) </vt:lpstr>
      <vt:lpstr>PowerPoint Presentation</vt:lpstr>
      <vt:lpstr>Contributions </vt:lpstr>
      <vt:lpstr>Supplementals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skylerlchan@outlook.com</dc:creator>
  <cp:lastModifiedBy>skylerlchan@outlook.com</cp:lastModifiedBy>
  <cp:revision>2</cp:revision>
  <dcterms:created xsi:type="dcterms:W3CDTF">2025-08-25T13:50:25Z</dcterms:created>
  <dcterms:modified xsi:type="dcterms:W3CDTF">2025-08-27T22:56:12Z</dcterms:modified>
</cp:coreProperties>
</file>